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22" r:id="rId3"/>
    <p:sldId id="306" r:id="rId4"/>
    <p:sldId id="308" r:id="rId5"/>
    <p:sldId id="325" r:id="rId6"/>
    <p:sldId id="324" r:id="rId7"/>
    <p:sldId id="314" r:id="rId8"/>
    <p:sldId id="311" r:id="rId9"/>
    <p:sldId id="305" r:id="rId10"/>
    <p:sldId id="328" r:id="rId11"/>
    <p:sldId id="329" r:id="rId12"/>
    <p:sldId id="299" r:id="rId13"/>
    <p:sldId id="301" r:id="rId14"/>
    <p:sldId id="333" r:id="rId15"/>
    <p:sldId id="30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omic Sans MS" panose="030F0702030302020204" pitchFamily="66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Segoe UI Semibold" panose="020B070204020402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1061" autoAdjust="0"/>
  </p:normalViewPr>
  <p:slideViewPr>
    <p:cSldViewPr snapToGrid="0">
      <p:cViewPr varScale="1">
        <p:scale>
          <a:sx n="62" d="100"/>
          <a:sy n="62" d="100"/>
        </p:scale>
        <p:origin x="876" y="36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08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8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8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3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594185" y="1376475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0" r="17270"/>
          <a:stretch>
            <a:fillRect/>
          </a:stretch>
        </p:blipFill>
        <p:spPr/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38" y="1479222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8223" y="1518922"/>
            <a:ext cx="1513435" cy="73136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65243" y="5794872"/>
            <a:ext cx="360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Presented by: Esraa Fathy 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8" b="22338"/>
          <a:stretch>
            <a:fillRect/>
          </a:stretch>
        </p:blipFill>
        <p:spPr>
          <a:xfrm>
            <a:off x="3649197" y="2677291"/>
            <a:ext cx="862635" cy="43942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08715"/>
            <a:ext cx="10515600" cy="716543"/>
          </a:xfrm>
        </p:spPr>
        <p:txBody>
          <a:bodyPr/>
          <a:lstStyle/>
          <a:p>
            <a:pPr lvl="0">
              <a:lnSpc>
                <a:spcPct val="115000"/>
              </a:lnSpc>
              <a:spcBef>
                <a:spcPts val="1800"/>
              </a:spcBef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. File-Based 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Systems</a:t>
            </a:r>
            <a:endParaRPr lang="en-EG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C6233C-6E7D-1C43-7E50-5528B1A361B6}"/>
              </a:ext>
            </a:extLst>
          </p:cNvPr>
          <p:cNvSpPr/>
          <p:nvPr/>
        </p:nvSpPr>
        <p:spPr>
          <a:xfrm>
            <a:off x="6010953" y="2309006"/>
            <a:ext cx="5918200" cy="33495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l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6010953" y="2621964"/>
            <a:ext cx="5019211" cy="2893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318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3200"/>
              <a:buFont typeface="Comic Sans MS"/>
              <a:buChar char="●"/>
            </a:pPr>
            <a:r>
              <a:rPr lang="en-US" sz="2000" dirty="0" smtClean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</a:t>
            </a: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stored in text files (e.g., TXT or CSV)</a:t>
            </a:r>
          </a:p>
          <a:p>
            <a:pPr marL="457200" lvl="0" indent="-431800">
              <a:lnSpc>
                <a:spcPct val="115000"/>
              </a:lnSpc>
              <a:buClr>
                <a:schemeClr val="dk1"/>
              </a:buClr>
              <a:buSzPts val="3200"/>
              <a:buChar char="●"/>
            </a:pPr>
            <a:r>
              <a:rPr lang="en-US" sz="2000" b="1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Limitations</a:t>
            </a: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</a:p>
          <a:p>
            <a:pPr marL="914400" lvl="1" indent="-431800">
              <a:lnSpc>
                <a:spcPct val="115000"/>
              </a:lnSpc>
              <a:buClr>
                <a:schemeClr val="dk1"/>
              </a:buClr>
              <a:buSzPts val="3200"/>
              <a:buFont typeface="Comic Sans MS"/>
              <a:buChar char="○"/>
            </a:pP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Separation &amp; isolation of data</a:t>
            </a:r>
          </a:p>
          <a:p>
            <a:pPr marL="914400" lvl="1" indent="-431800">
              <a:lnSpc>
                <a:spcPct val="115000"/>
              </a:lnSpc>
              <a:buClr>
                <a:schemeClr val="dk1"/>
              </a:buClr>
              <a:buSzPts val="3200"/>
              <a:buFont typeface="Comic Sans MS"/>
              <a:buChar char="○"/>
            </a:pP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Duplication of data</a:t>
            </a:r>
          </a:p>
          <a:p>
            <a:pPr marL="914400" lvl="1" indent="-431800">
              <a:lnSpc>
                <a:spcPct val="115000"/>
              </a:lnSpc>
              <a:buClr>
                <a:schemeClr val="dk1"/>
              </a:buClr>
              <a:buSzPts val="3200"/>
              <a:buFont typeface="Comic Sans MS"/>
              <a:buChar char="○"/>
            </a:pP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Program-data dependence</a:t>
            </a:r>
          </a:p>
          <a:p>
            <a:pPr marL="914400" lvl="1" indent="-431800">
              <a:lnSpc>
                <a:spcPct val="115000"/>
              </a:lnSpc>
              <a:buClr>
                <a:schemeClr val="dk1"/>
              </a:buClr>
              <a:buSzPts val="3200"/>
              <a:buFont typeface="Comic Sans MS"/>
              <a:buChar char="○"/>
            </a:pPr>
            <a:r>
              <a:rPr lang="en-US" sz="2000" dirty="0">
                <a:solidFill>
                  <a:schemeClr val="bg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Incompatible file formats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4" y="2309006"/>
            <a:ext cx="5695950" cy="334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4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67;p14"/>
          <p:cNvPicPr preferRelativeResize="0">
            <a:picLocks noGrp="1"/>
          </p:cNvPicPr>
          <p:nvPr>
            <p:ph type="pic" sz="quarter" idx="10"/>
          </p:nvPr>
        </p:nvPicPr>
        <p:blipFill>
          <a:blip r:embed="rId3">
            <a:alphaModFix/>
          </a:blip>
          <a:srcRect t="1326" b="1326"/>
          <a:stretch>
            <a:fillRect/>
          </a:stretch>
        </p:blipFill>
        <p:spPr>
          <a:xfrm>
            <a:off x="873125" y="976313"/>
            <a:ext cx="10653713" cy="512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178" y="2728036"/>
            <a:ext cx="10158413" cy="2419316"/>
          </a:xfrm>
        </p:spPr>
        <p:txBody>
          <a:bodyPr/>
          <a:lstStyle/>
          <a:p>
            <a:pPr marL="0" lvl="0" indent="0">
              <a:lnSpc>
                <a:spcPct val="115000"/>
              </a:lnSpc>
              <a:spcBef>
                <a:spcPts val="1800"/>
              </a:spcBef>
              <a:buClr>
                <a:schemeClr val="dk1"/>
              </a:buClr>
              <a:buSzPts val="1100"/>
              <a:buNone/>
            </a:pPr>
            <a:r>
              <a:rPr lang="en-US" sz="3000" b="1" dirty="0" smtClean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structured system to store and manage data electronically</a:t>
            </a:r>
            <a:endParaRPr lang="en-US" sz="34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Comic Sans MS"/>
              <a:buChar char="●"/>
            </a:pP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Allows for: saving - updating - searching - deleting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Comic Sans MS"/>
              <a:buChar char="●"/>
            </a:pP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Different types of databases handle data in different ways</a:t>
            </a:r>
          </a:p>
          <a:p>
            <a:pPr marL="0" lvl="0" indent="0">
              <a:spcBef>
                <a:spcPts val="1200"/>
              </a:spcBef>
              <a:buNone/>
            </a:pPr>
            <a:endParaRPr lang="en-US" sz="3100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endParaRPr lang="en-E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660510"/>
            <a:ext cx="10515600" cy="978729"/>
          </a:xfrm>
        </p:spPr>
        <p:txBody>
          <a:bodyPr/>
          <a:lstStyle/>
          <a:p>
            <a:pPr lvl="0"/>
            <a:r>
              <a:rPr lang="en-US" dirty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What is a Database?</a:t>
            </a:r>
            <a:br>
              <a:rPr lang="en-US" dirty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75973"/>
            <a:ext cx="10158413" cy="3754957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Database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</a:p>
          <a:p>
            <a:pPr marL="457200" lvl="0" indent="-3492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900"/>
              <a:buFont typeface="Comic Sans MS"/>
              <a:buChar char="●"/>
            </a:pP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organized data.</a:t>
            </a:r>
          </a:p>
          <a:p>
            <a:pPr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DBMS 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(Database Management System):</a:t>
            </a:r>
          </a:p>
          <a:p>
            <a:pPr marL="457200" lvl="0" indent="-3492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900"/>
              <a:buFont typeface="Comic Sans MS"/>
              <a:buChar char="●"/>
            </a:pP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that allows users to interact with the database.</a:t>
            </a:r>
          </a:p>
          <a:p>
            <a:pPr marL="457200" lvl="0" indent="-34925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900"/>
              <a:buFont typeface="Comic Sans MS"/>
              <a:buChar char="●"/>
            </a:pP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Examples: MySQL, MongoDB, Oracle DBMS, </a:t>
            </a:r>
            <a:r>
              <a:rPr lang="en-US" sz="2000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etc.</a:t>
            </a:r>
          </a:p>
          <a:p>
            <a:pPr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Database System:</a:t>
            </a:r>
          </a:p>
          <a:p>
            <a:pPr marL="381000" marR="381000" lvl="0"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DBMS software together with the data itself. Sometimes, the applications are also included. (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+ Database</a:t>
            </a: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</a:p>
          <a:p>
            <a:endParaRPr lang="en-EG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78317"/>
            <a:ext cx="10515600" cy="978729"/>
          </a:xfrm>
        </p:spPr>
        <p:txBody>
          <a:bodyPr/>
          <a:lstStyle/>
          <a:p>
            <a:r>
              <a:rPr lang="en-US" dirty="0" smtClean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Database </a:t>
            </a:r>
            <a:r>
              <a:rPr lang="en-US" dirty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  <a:t>vs DBMS vs Database System</a:t>
            </a:r>
            <a:br>
              <a:rPr lang="en-US" dirty="0">
                <a:solidFill>
                  <a:srgbClr val="1393AD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84021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5" b="3635"/>
          <a:stretch>
            <a:fillRect/>
          </a:stretch>
        </p:blipFill>
        <p:spPr>
          <a:xfrm>
            <a:off x="872947" y="1006387"/>
            <a:ext cx="10191750" cy="4911528"/>
          </a:xfrm>
        </p:spPr>
      </p:pic>
    </p:spTree>
    <p:extLst>
      <p:ext uri="{BB962C8B-B14F-4D97-AF65-F5344CB8AC3E}">
        <p14:creationId xmlns:p14="http://schemas.microsoft.com/office/powerpoint/2010/main" val="272942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CDF0E-D2B6-1E71-B3BF-39DA46C3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3"/>
            <a:ext cx="10515600" cy="535531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  <a:latin typeface="Comic Sans MS" panose="030F0702030302020204" pitchFamily="66" charset="0"/>
              </a:rPr>
              <a:t>4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omic Sans MS" panose="030F0702030302020204" pitchFamily="66" charset="0"/>
              </a:rPr>
              <a:t>. Advantages of Database Systems(BDMS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  <a:latin typeface="Comic Sans MS" panose="030F0702030302020204" pitchFamily="66" charset="0"/>
              </a:rPr>
              <a:t>)</a:t>
            </a:r>
            <a:endParaRPr lang="en-EG" dirty="0">
              <a:solidFill>
                <a:schemeClr val="accent5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CEDD2-8E10-4EC2-34E8-EAA286C51116}"/>
              </a:ext>
            </a:extLst>
          </p:cNvPr>
          <p:cNvSpPr txBox="1"/>
          <p:nvPr/>
        </p:nvSpPr>
        <p:spPr>
          <a:xfrm>
            <a:off x="768157" y="2974496"/>
            <a:ext cx="276056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 smtClean="0"/>
              <a:t>Avoids </a:t>
            </a:r>
            <a:r>
              <a:rPr lang="en-US" sz="1400" dirty="0"/>
              <a:t>unnecessary data duplication</a:t>
            </a:r>
          </a:p>
          <a:p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49C78-05C0-0163-11BF-8450A70E90AF}"/>
              </a:ext>
            </a:extLst>
          </p:cNvPr>
          <p:cNvSpPr txBox="1"/>
          <p:nvPr/>
        </p:nvSpPr>
        <p:spPr>
          <a:xfrm>
            <a:off x="660417" y="2521035"/>
            <a:ext cx="29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/>
              <a:t>Controlling Redundancy</a:t>
            </a:r>
            <a:r>
              <a:rPr lang="en-US" sz="1800" dirty="0"/>
              <a:t>:</a:t>
            </a:r>
            <a:endParaRPr lang="en-US" sz="1800" b="1" dirty="0">
              <a:latin typeface="+mn-lt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A89B5-FF6F-60F1-7BFB-60CA70287BEA}"/>
              </a:ext>
            </a:extLst>
          </p:cNvPr>
          <p:cNvCxnSpPr/>
          <p:nvPr/>
        </p:nvCxnSpPr>
        <p:spPr>
          <a:xfrm>
            <a:off x="4119502" y="3074864"/>
            <a:ext cx="0" cy="2569464"/>
          </a:xfrm>
          <a:prstGeom prst="line">
            <a:avLst/>
          </a:prstGeom>
          <a:ln w="12700">
            <a:solidFill>
              <a:schemeClr val="tx2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40108D-130A-A231-780A-8FB8F1E4FFAC}"/>
              </a:ext>
            </a:extLst>
          </p:cNvPr>
          <p:cNvCxnSpPr/>
          <p:nvPr/>
        </p:nvCxnSpPr>
        <p:spPr>
          <a:xfrm>
            <a:off x="7964596" y="3074864"/>
            <a:ext cx="0" cy="2569464"/>
          </a:xfrm>
          <a:prstGeom prst="line">
            <a:avLst/>
          </a:prstGeom>
          <a:ln w="12700">
            <a:solidFill>
              <a:schemeClr val="tx2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6696AC-BEE6-7DC5-A14C-A1CECBFD09CA}"/>
              </a:ext>
            </a:extLst>
          </p:cNvPr>
          <p:cNvSpPr txBox="1"/>
          <p:nvPr/>
        </p:nvSpPr>
        <p:spPr>
          <a:xfrm>
            <a:off x="4170852" y="3045060"/>
            <a:ext cx="2390938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/>
              <a:t>Ensures secure data access</a:t>
            </a:r>
          </a:p>
          <a:p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65089-AECB-B2C3-827E-A6676ACE5AE7}"/>
              </a:ext>
            </a:extLst>
          </p:cNvPr>
          <p:cNvSpPr txBox="1"/>
          <p:nvPr/>
        </p:nvSpPr>
        <p:spPr>
          <a:xfrm>
            <a:off x="4174315" y="2515785"/>
            <a:ext cx="3487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/>
              <a:t>Restricting Unauthorized Access</a:t>
            </a:r>
            <a:r>
              <a:rPr lang="en-US" sz="1800" dirty="0"/>
              <a:t>:</a:t>
            </a:r>
            <a:endParaRPr lang="en-US" sz="1800" b="1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DCDA03-008B-FE2B-AFE0-2FCE87BB4CBF}"/>
              </a:ext>
            </a:extLst>
          </p:cNvPr>
          <p:cNvSpPr txBox="1"/>
          <p:nvPr/>
        </p:nvSpPr>
        <p:spPr>
          <a:xfrm>
            <a:off x="8171934" y="2890367"/>
            <a:ext cx="2390938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/>
              <a:t>Multiple users can access the same data</a:t>
            </a:r>
          </a:p>
          <a:p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CA87E2-2DFF-E7F3-1570-719EED121F45}"/>
              </a:ext>
            </a:extLst>
          </p:cNvPr>
          <p:cNvSpPr txBox="1"/>
          <p:nvPr/>
        </p:nvSpPr>
        <p:spPr>
          <a:xfrm>
            <a:off x="8251820" y="2527158"/>
            <a:ext cx="249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/>
              <a:t>Sharing </a:t>
            </a:r>
            <a:r>
              <a:rPr lang="en-US" sz="1800" b="1" dirty="0" smtClean="0"/>
              <a:t>data:</a:t>
            </a:r>
            <a:endParaRPr lang="en-US" sz="1800" b="1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49C78-05C0-0163-11BF-8450A70E90AF}"/>
              </a:ext>
            </a:extLst>
          </p:cNvPr>
          <p:cNvSpPr txBox="1"/>
          <p:nvPr/>
        </p:nvSpPr>
        <p:spPr>
          <a:xfrm>
            <a:off x="756451" y="4032276"/>
            <a:ext cx="297605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/>
              <a:t>Enforcing Integrity Constraints</a:t>
            </a:r>
            <a:r>
              <a:rPr lang="en-US" dirty="0"/>
              <a:t>: </a:t>
            </a:r>
            <a:endParaRPr lang="en-US" sz="1800" b="1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CEDD2-8E10-4EC2-34E8-EAA286C51116}"/>
              </a:ext>
            </a:extLst>
          </p:cNvPr>
          <p:cNvSpPr txBox="1"/>
          <p:nvPr/>
        </p:nvSpPr>
        <p:spPr>
          <a:xfrm>
            <a:off x="789791" y="4554752"/>
            <a:ext cx="2760569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 smtClean="0"/>
              <a:t>Maintains </a:t>
            </a:r>
            <a:r>
              <a:rPr lang="en-US" sz="1400" dirty="0"/>
              <a:t>accuracy and consistency</a:t>
            </a:r>
          </a:p>
          <a:p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B49C78-05C0-0163-11BF-8450A70E90AF}"/>
              </a:ext>
            </a:extLst>
          </p:cNvPr>
          <p:cNvSpPr txBox="1"/>
          <p:nvPr/>
        </p:nvSpPr>
        <p:spPr>
          <a:xfrm>
            <a:off x="4203701" y="3973573"/>
            <a:ext cx="2976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/>
              <a:t>Inconsistency can be avoided</a:t>
            </a:r>
            <a:r>
              <a:rPr lang="en-US" sz="1800" dirty="0"/>
              <a:t>:</a:t>
            </a:r>
            <a:endParaRPr lang="en-US" sz="1800" b="1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2CEDD2-8E10-4EC2-34E8-EAA286C51116}"/>
              </a:ext>
            </a:extLst>
          </p:cNvPr>
          <p:cNvSpPr txBox="1"/>
          <p:nvPr/>
        </p:nvSpPr>
        <p:spPr>
          <a:xfrm>
            <a:off x="4308104" y="4542095"/>
            <a:ext cx="2760569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/>
              <a:t>Prevents data mismatches</a:t>
            </a:r>
          </a:p>
          <a:p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2CEDD2-8E10-4EC2-34E8-EAA286C51116}"/>
              </a:ext>
            </a:extLst>
          </p:cNvPr>
          <p:cNvSpPr txBox="1"/>
          <p:nvPr/>
        </p:nvSpPr>
        <p:spPr>
          <a:xfrm>
            <a:off x="8304087" y="4619904"/>
            <a:ext cx="2760569" cy="69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400" dirty="0"/>
              <a:t>Ensures data can be restored </a:t>
            </a:r>
            <a:r>
              <a:rPr lang="en-US" sz="1400" dirty="0" smtClean="0"/>
              <a:t>after </a:t>
            </a:r>
            <a:r>
              <a:rPr lang="en-US" sz="1400" dirty="0"/>
              <a:t>failure</a:t>
            </a:r>
            <a:endParaRPr lang="en-US" sz="1400" dirty="0">
              <a:solidFill>
                <a:schemeClr val="tx1">
                  <a:alpha val="60000"/>
                </a:schemeClr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49C78-05C0-0163-11BF-8450A70E90AF}"/>
              </a:ext>
            </a:extLst>
          </p:cNvPr>
          <p:cNvSpPr txBox="1"/>
          <p:nvPr/>
        </p:nvSpPr>
        <p:spPr>
          <a:xfrm>
            <a:off x="8251820" y="4036325"/>
            <a:ext cx="297605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/>
              <a:t>Providing Backup and Recovery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4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1060784" y="2337059"/>
            <a:ext cx="2450475" cy="33090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BB7CE8-00A3-366D-9216-C83BB6DD6115}"/>
              </a:ext>
            </a:extLst>
          </p:cNvPr>
          <p:cNvSpPr/>
          <p:nvPr/>
        </p:nvSpPr>
        <p:spPr>
          <a:xfrm>
            <a:off x="8455133" y="2454623"/>
            <a:ext cx="3118675" cy="339917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177623"/>
            <a:ext cx="10515600" cy="978729"/>
          </a:xfrm>
        </p:spPr>
        <p:txBody>
          <a:bodyPr>
            <a:spAutoFit/>
          </a:bodyPr>
          <a:lstStyle/>
          <a:p>
            <a:pPr lvl="0"/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Relational vs Non-Relational Databases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E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8BDAA-D36E-7077-A5EF-71033C84EFE5}"/>
              </a:ext>
            </a:extLst>
          </p:cNvPr>
          <p:cNvSpPr txBox="1"/>
          <p:nvPr/>
        </p:nvSpPr>
        <p:spPr>
          <a:xfrm>
            <a:off x="8455133" y="3066417"/>
            <a:ext cx="3109349" cy="2726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use tables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Flexible structure (documents, key-value, </a:t>
            </a:r>
            <a:r>
              <a:rPr lang="en-US" sz="1600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etc</a:t>
            </a: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Commonly used in modern applications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Examples: MongoDB, Firebase, </a:t>
            </a:r>
            <a:r>
              <a:rPr lang="en-US" sz="1600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CouchDB</a:t>
            </a:r>
            <a:endParaRPr lang="en-US" sz="1600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endParaRPr lang="en-US" sz="1600" dirty="0">
              <a:solidFill>
                <a:schemeClr val="bg1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5C274-07AA-658E-883C-B7BCBB6D25EE}"/>
              </a:ext>
            </a:extLst>
          </p:cNvPr>
          <p:cNvSpPr txBox="1"/>
          <p:nvPr/>
        </p:nvSpPr>
        <p:spPr>
          <a:xfrm>
            <a:off x="8577581" y="2584477"/>
            <a:ext cx="305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>
                <a:solidFill>
                  <a:schemeClr val="tx2"/>
                </a:solidFill>
                <a:latin typeface="Inter" panose="02000503000000020004" pitchFamily="2" charset="0"/>
              </a:defRPr>
            </a:lvl1pPr>
          </a:lstStyle>
          <a:p>
            <a:pPr lvl="0"/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Non-Relational (NoSQL):</a:t>
            </a:r>
          </a:p>
          <a:p>
            <a:endParaRPr lang="en-US" sz="1800" dirty="0">
              <a:solidFill>
                <a:schemeClr val="bg2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1510A-13F5-2F3D-03AA-4D104A28701B}"/>
              </a:ext>
            </a:extLst>
          </p:cNvPr>
          <p:cNvSpPr/>
          <p:nvPr/>
        </p:nvSpPr>
        <p:spPr>
          <a:xfrm>
            <a:off x="5202416" y="2454622"/>
            <a:ext cx="3118674" cy="339917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EE960-D57D-6E7C-1AB6-B4A1B6DE7AA5}"/>
              </a:ext>
            </a:extLst>
          </p:cNvPr>
          <p:cNvSpPr txBox="1"/>
          <p:nvPr/>
        </p:nvSpPr>
        <p:spPr>
          <a:xfrm>
            <a:off x="5202416" y="3093541"/>
            <a:ext cx="3461361" cy="244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Based on tables (rows and columns)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 structured schema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Supports relationships between tables</a:t>
            </a:r>
          </a:p>
          <a:p>
            <a:pPr marL="457200" lvl="0" indent="-368300">
              <a:lnSpc>
                <a:spcPct val="115000"/>
              </a:lnSpc>
              <a:buClr>
                <a:schemeClr val="dk1"/>
              </a:buClr>
              <a:buSzPts val="22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Examples: MySQL, PostgreSQL, Oracle</a:t>
            </a:r>
          </a:p>
          <a:p>
            <a:endParaRPr lang="en-US" sz="1600" dirty="0">
              <a:solidFill>
                <a:schemeClr val="bg1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F67D6-6595-4DEA-3FE2-769930058BAB}"/>
              </a:ext>
            </a:extLst>
          </p:cNvPr>
          <p:cNvSpPr txBox="1"/>
          <p:nvPr/>
        </p:nvSpPr>
        <p:spPr>
          <a:xfrm>
            <a:off x="5570411" y="2610261"/>
            <a:ext cx="2382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>
                <a:solidFill>
                  <a:schemeClr val="tx2"/>
                </a:solidFill>
                <a:latin typeface="Inter" panose="02000503000000020004" pitchFamily="2" charset="0"/>
              </a:defRPr>
            </a:lvl1pPr>
          </a:lstStyle>
          <a:p>
            <a:pPr lvl="0"/>
            <a:r>
              <a:rPr lang="en-US" sz="18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Relational (SQL):</a:t>
            </a:r>
          </a:p>
          <a:p>
            <a:endParaRPr lang="en-US" sz="1800" dirty="0">
              <a:solidFill>
                <a:schemeClr val="bg2"/>
              </a:solidFill>
              <a:latin typeface="+mn-lt"/>
              <a:cs typeface="Segoe UI Semibold" panose="020B0702040204020203" pitchFamily="34" charset="0"/>
            </a:endParaRPr>
          </a:p>
        </p:txBody>
      </p:sp>
      <p:pic>
        <p:nvPicPr>
          <p:cNvPr id="1026" name="Picture 2" descr="Relational Database vs NoSQL - GeeksforGeeks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" r="688"/>
          <a:stretch>
            <a:fillRect/>
          </a:stretch>
        </p:blipFill>
        <p:spPr bwMode="auto">
          <a:xfrm>
            <a:off x="845495" y="2337059"/>
            <a:ext cx="4356921" cy="330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84AAA-ECF6-DA6C-15A8-8B4D6A87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2496531"/>
            <a:ext cx="4673306" cy="978729"/>
          </a:xfrm>
        </p:spPr>
        <p:txBody>
          <a:bodyPr/>
          <a:lstStyle/>
          <a:p>
            <a:r>
              <a:rPr lang="en-US" dirty="0"/>
              <a:t>A Relational Database</a:t>
            </a:r>
            <a:endParaRPr lang="en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1C73B-330E-9B82-F69D-0BD791B89C37}"/>
              </a:ext>
            </a:extLst>
          </p:cNvPr>
          <p:cNvSpPr txBox="1"/>
          <p:nvPr/>
        </p:nvSpPr>
        <p:spPr>
          <a:xfrm>
            <a:off x="612370" y="3321024"/>
            <a:ext cx="4673307" cy="2633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/>
              <a:t>is </a:t>
            </a:r>
            <a:r>
              <a:rPr lang="en-US" sz="1600" dirty="0"/>
              <a:t>a type of database that stores data in </a:t>
            </a:r>
            <a:r>
              <a:rPr lang="en-US" sz="1600" b="1" dirty="0"/>
              <a:t>tables</a:t>
            </a:r>
            <a:r>
              <a:rPr lang="en-US" sz="1600" dirty="0"/>
              <a:t> (relations) made up of </a:t>
            </a:r>
            <a:r>
              <a:rPr lang="en-US" sz="1600" b="1" dirty="0"/>
              <a:t>rows</a:t>
            </a:r>
            <a:r>
              <a:rPr lang="en-US" sz="1600" dirty="0"/>
              <a:t> and </a:t>
            </a:r>
            <a:r>
              <a:rPr lang="en-US" sz="1600" b="1" dirty="0"/>
              <a:t>columns</a:t>
            </a:r>
            <a:r>
              <a:rPr lang="en-US" sz="1600" dirty="0"/>
              <a:t>. The tables are connected to each other using </a:t>
            </a:r>
            <a:r>
              <a:rPr lang="en-US" sz="1600" b="1" dirty="0"/>
              <a:t>relationships</a:t>
            </a:r>
            <a:r>
              <a:rPr lang="en-US" sz="1600" dirty="0"/>
              <a:t>, typically through </a:t>
            </a:r>
            <a:r>
              <a:rPr lang="en-US" sz="1600" b="1" dirty="0"/>
              <a:t>primary keys</a:t>
            </a:r>
            <a:r>
              <a:rPr lang="en-US" sz="1600" dirty="0"/>
              <a:t> and </a:t>
            </a:r>
            <a:r>
              <a:rPr lang="en-US" sz="1600" b="1" dirty="0"/>
              <a:t>foreign keys</a:t>
            </a:r>
            <a:r>
              <a:rPr lang="en-US" sz="1600" dirty="0"/>
              <a:t>, allowing data to be organized, managed, and retrieved efficiently using </a:t>
            </a:r>
            <a:r>
              <a:rPr lang="en-US" sz="1600" b="1" dirty="0"/>
              <a:t>SQL (Structured Query Language)</a:t>
            </a:r>
            <a:r>
              <a:rPr lang="en-US" sz="1600" dirty="0"/>
              <a:t>.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pic>
        <p:nvPicPr>
          <p:cNvPr id="8" name="Google Shape;118;p24" title="4pict-blog-article-Relational-and-non-relational-databases-What-to-choose.jpg"/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l="8802" r="8802"/>
          <a:stretch>
            <a:fillRect/>
          </a:stretch>
        </p:blipFill>
        <p:spPr>
          <a:xfrm>
            <a:off x="5285677" y="1150706"/>
            <a:ext cx="5709178" cy="4649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FA90E-9E1C-4C7F-3466-7FDC677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57" y="1325234"/>
            <a:ext cx="10515600" cy="978729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ACID Transactions</a:t>
            </a:r>
            <a:r>
              <a:rPr lang="en-US" sz="2000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/>
            </a:r>
            <a:br>
              <a:rPr lang="en-US" sz="2000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E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4E1B2-6A15-658E-6ED2-55D7EC496635}"/>
              </a:ext>
            </a:extLst>
          </p:cNvPr>
          <p:cNvSpPr txBox="1"/>
          <p:nvPr/>
        </p:nvSpPr>
        <p:spPr>
          <a:xfrm>
            <a:off x="4155181" y="2214708"/>
            <a:ext cx="7659865" cy="4828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lang="en-US" sz="18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Atomicity  </a:t>
            </a:r>
            <a: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or Nothing</a:t>
            </a:r>
            <a:b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entire transaction must complete, or none of it happens.</a:t>
            </a:r>
            <a:b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one part fails, the whole transaction is rolled back.</a:t>
            </a: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 </a:t>
            </a:r>
            <a:r>
              <a:rPr lang="en-US" sz="18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Consistency </a:t>
            </a:r>
            <a: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Valid </a:t>
            </a:r>
            <a:r>
              <a:rPr lang="en-US" sz="1600" i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</a:t>
            </a:r>
            <a: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/>
            </a:r>
            <a:b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database must remain in a valid state before and </a:t>
            </a: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the transaction, always following defined rules and constraints.</a:t>
            </a: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</a:t>
            </a:r>
            <a:r>
              <a:rPr lang="en-US" sz="18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Isolation  </a:t>
            </a:r>
            <a: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Interference</a:t>
            </a:r>
            <a:b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Multiple transactions can occur simultaneously without affecting each other.</a:t>
            </a:r>
            <a:b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Each transaction runs as if it's alone in the system.</a:t>
            </a:r>
          </a:p>
          <a:p>
            <a:pPr marL="285750" lvl="0" indent="-28575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 </a:t>
            </a:r>
            <a:r>
              <a:rPr lang="en-US" sz="18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Durability   </a:t>
            </a:r>
            <a: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Permanent Changes</a:t>
            </a:r>
            <a:br>
              <a:rPr lang="en-US" sz="1600" i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16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Once a transaction is committed, the changes are permanent, even in the case of a crash or power failure.</a:t>
            </a:r>
          </a:p>
          <a:p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08BAB-15C8-3753-90CB-0BB7FDCF070D}"/>
              </a:ext>
            </a:extLst>
          </p:cNvPr>
          <p:cNvSpPr txBox="1"/>
          <p:nvPr/>
        </p:nvSpPr>
        <p:spPr>
          <a:xfrm>
            <a:off x="3992557" y="1814598"/>
            <a:ext cx="7946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>
                <a:solidFill>
                  <a:schemeClr val="tx2"/>
                </a:solidFill>
                <a:latin typeface="Inter" panose="02000503000000020004" pitchFamily="2" charset="0"/>
              </a:defRPr>
            </a:lvl1pPr>
          </a:lstStyle>
          <a:p>
            <a:r>
              <a:rPr lang="en-US" sz="2000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ensure </a:t>
            </a:r>
            <a:r>
              <a:rPr lang="en-US" sz="2000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reliable database transactions in Relational Databases:</a:t>
            </a:r>
            <a:endParaRPr lang="en-US" sz="2000" dirty="0">
              <a:solidFill>
                <a:srgbClr val="065B94"/>
              </a:solidFill>
              <a:latin typeface="+mn-lt"/>
              <a:cs typeface="Segoe UI Semibold" panose="020B0702040204020203" pitchFamily="34" charset="0"/>
            </a:endParaRPr>
          </a:p>
        </p:txBody>
      </p:sp>
      <p:pic>
        <p:nvPicPr>
          <p:cNvPr id="4098" name="Picture 2" descr="What is ACID?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7" r="7887"/>
          <a:stretch>
            <a:fillRect/>
          </a:stretch>
        </p:blipFill>
        <p:spPr bwMode="auto">
          <a:xfrm>
            <a:off x="369870" y="1428108"/>
            <a:ext cx="3667874" cy="448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7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4" name="Picture 14" descr="ACID Transactions Explained: Properties, Examples, and Real-Time Applications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7" b="16517"/>
          <a:stretch>
            <a:fillRect/>
          </a:stretch>
        </p:blipFill>
        <p:spPr bwMode="auto">
          <a:xfrm>
            <a:off x="780836" y="1284324"/>
            <a:ext cx="10402024" cy="464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46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914400" y="2691637"/>
            <a:ext cx="4627085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7516" r="7516"/>
          <a:stretch>
            <a:fillRect/>
          </a:stretch>
        </p:blipFill>
        <p:spPr>
          <a:xfrm>
            <a:off x="1188521" y="2462308"/>
            <a:ext cx="4815672" cy="33321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456" y="1043441"/>
            <a:ext cx="10515600" cy="620106"/>
          </a:xfrm>
        </p:spPr>
        <p:txBody>
          <a:bodyPr/>
          <a:lstStyle/>
          <a:p>
            <a:pPr lvl="0">
              <a:lnSpc>
                <a:spcPct val="115000"/>
              </a:lnSpc>
              <a:spcBef>
                <a:spcPts val="1800"/>
              </a:spcBef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Comic Sans MS"/>
                <a:ea typeface="Comic Sans MS"/>
                <a:cs typeface="Comic Sans MS"/>
                <a:sym typeface="Comic Sans MS"/>
              </a:rPr>
              <a:t> BASE Model (used in NoSQL systems)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8371" y="2283653"/>
            <a:ext cx="6096000" cy="38861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 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Basically Available</a:t>
            </a:r>
          </a:p>
          <a:p>
            <a:pPr marL="666750" marR="381000" lvl="0" indent="-285750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system guarantees availability, even if parts of it fail.</a:t>
            </a:r>
          </a:p>
          <a:p>
            <a:pPr marL="342900" lvl="0" indent="-34290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</a:t>
            </a:r>
            <a:r>
              <a:rPr lang="en-US" sz="2000" b="1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 State</a:t>
            </a:r>
          </a:p>
          <a:p>
            <a:pPr marL="666750" marR="381000" lvl="0" indent="-285750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system’s state may change over time, even without input (due to sync delays).</a:t>
            </a:r>
          </a:p>
          <a:p>
            <a:pPr marL="342900" lvl="0" indent="-342900">
              <a:lnSpc>
                <a:spcPct val="115000"/>
              </a:lnSpc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 </a:t>
            </a:r>
            <a:r>
              <a:rPr lang="en-US" sz="20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– Eventually Consistent</a:t>
            </a:r>
          </a:p>
          <a:p>
            <a:pPr marL="666750" marR="381000" lvl="0" indent="-2857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system will reach a consistent state eventually, not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3547"/>
            <a:ext cx="847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NoSQL databases use a </a:t>
            </a:r>
            <a:r>
              <a:rPr lang="en-US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BASE</a:t>
            </a:r>
            <a:r>
              <a:rPr lang="en-US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model instead of strict ACID compliance, focusing more on </a:t>
            </a:r>
            <a:r>
              <a:rPr lang="en-US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flexibility</a:t>
            </a:r>
            <a:r>
              <a:rPr lang="ar-EG" b="1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performance</a:t>
            </a:r>
            <a:r>
              <a:rPr lang="en-US" dirty="0" smtClean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lang="en-US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408386" y="1481959"/>
            <a:ext cx="9007366" cy="47401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173;p35"/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l="64" r="64"/>
          <a:stretch>
            <a:fillRect/>
          </a:stretch>
        </p:blipFill>
        <p:spPr>
          <a:xfrm>
            <a:off x="1671145" y="1061546"/>
            <a:ext cx="9049407" cy="4918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2070538" y="1460938"/>
            <a:ext cx="9007366" cy="47401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86" y="1108156"/>
            <a:ext cx="10131973" cy="491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7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099" y="1187669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886</TotalTime>
  <Words>428</Words>
  <Application>Microsoft Office PowerPoint</Application>
  <PresentationFormat>Widescreen</PresentationFormat>
  <Paragraphs>70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Wingdings</vt:lpstr>
      <vt:lpstr>Calibri</vt:lpstr>
      <vt:lpstr>Comic Sans MS</vt:lpstr>
      <vt:lpstr>DM Sans</vt:lpstr>
      <vt:lpstr>Segoe UI</vt:lpstr>
      <vt:lpstr>Arial</vt:lpstr>
      <vt:lpstr>Poppins Medium</vt:lpstr>
      <vt:lpstr>Inter</vt:lpstr>
      <vt:lpstr>Segoe UI Semibold</vt:lpstr>
      <vt:lpstr>Office Theme</vt:lpstr>
      <vt:lpstr>PowerPoint Presentation</vt:lpstr>
      <vt:lpstr>1. File-Based Systems</vt:lpstr>
      <vt:lpstr>PowerPoint Presentation</vt:lpstr>
      <vt:lpstr>2. What is a Database? </vt:lpstr>
      <vt:lpstr>Database vs DBMS vs Database System </vt:lpstr>
      <vt:lpstr>PowerPoint Presentation</vt:lpstr>
      <vt:lpstr>4. Advantages of Database Systems(BDMS)</vt:lpstr>
      <vt:lpstr>Relational vs Non-Relational Databases </vt:lpstr>
      <vt:lpstr>A Relational Database</vt:lpstr>
      <vt:lpstr>ACID Transactions </vt:lpstr>
      <vt:lpstr>PowerPoint Presentation</vt:lpstr>
      <vt:lpstr> BASE Model (used in NoSQL systems)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it</cp:lastModifiedBy>
  <cp:revision>38</cp:revision>
  <dcterms:created xsi:type="dcterms:W3CDTF">2026-03-27T11:30:08Z</dcterms:created>
  <dcterms:modified xsi:type="dcterms:W3CDTF">2026-08-11T07:43:05Z</dcterms:modified>
</cp:coreProperties>
</file>